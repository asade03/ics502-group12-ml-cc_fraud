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7" r:id="rId14"/>
    <p:sldId id="268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1" r:id="rId23"/>
  </p:sldIdLst>
  <p:sldSz cx="12192000" cy="6858000"/>
  <p:notesSz cx="6858000" cy="9144000"/>
  <p:embeddedFontLst>
    <p:embeddedFont>
      <p:font typeface="Outfit" panose="020B0604020202020204" charset="0"/>
      <p:regular r:id="rId25"/>
      <p:bold r:id="rId26"/>
    </p:embeddedFont>
    <p:embeddedFont>
      <p:font typeface="Space Grotesk" panose="020B0604020202020204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883" y="8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d150258bb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g3ad150258bb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d150258bb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g3ad150258bb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d150258bb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g3ad150258bb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d150258bb_0_3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3ad150258bb_0_3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ad150258bb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g3ad150258bb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d150258bb_0_2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g3ad150258bb_0_2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>
          <a:extLst>
            <a:ext uri="{FF2B5EF4-FFF2-40B4-BE49-F238E27FC236}">
              <a16:creationId xmlns:a16="http://schemas.microsoft.com/office/drawing/2014/main" id="{57D507B0-1C28-C83B-6BFD-A8E757950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d150258bb_0_168:notes">
            <a:extLst>
              <a:ext uri="{FF2B5EF4-FFF2-40B4-BE49-F238E27FC236}">
                <a16:creationId xmlns:a16="http://schemas.microsoft.com/office/drawing/2014/main" id="{075ECAFD-0D4C-6148-DE04-DB297B753D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g3ad150258bb_0_168:notes">
            <a:extLst>
              <a:ext uri="{FF2B5EF4-FFF2-40B4-BE49-F238E27FC236}">
                <a16:creationId xmlns:a16="http://schemas.microsoft.com/office/drawing/2014/main" id="{86A5C00E-0B1D-346C-D05E-06019F9ED5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842145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>
          <a:extLst>
            <a:ext uri="{FF2B5EF4-FFF2-40B4-BE49-F238E27FC236}">
              <a16:creationId xmlns:a16="http://schemas.microsoft.com/office/drawing/2014/main" id="{BE16F38A-C354-8FD1-4173-F47B93D84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d150258bb_0_168:notes">
            <a:extLst>
              <a:ext uri="{FF2B5EF4-FFF2-40B4-BE49-F238E27FC236}">
                <a16:creationId xmlns:a16="http://schemas.microsoft.com/office/drawing/2014/main" id="{D70313ED-3856-3DAB-6C92-CA123D89F1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g3ad150258bb_0_168:notes">
            <a:extLst>
              <a:ext uri="{FF2B5EF4-FFF2-40B4-BE49-F238E27FC236}">
                <a16:creationId xmlns:a16="http://schemas.microsoft.com/office/drawing/2014/main" id="{8BE892F3-A0B4-E767-D7CB-FA0B8FB4E4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08513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>
          <a:extLst>
            <a:ext uri="{FF2B5EF4-FFF2-40B4-BE49-F238E27FC236}">
              <a16:creationId xmlns:a16="http://schemas.microsoft.com/office/drawing/2014/main" id="{1A55985F-F783-49C7-7AAD-98EAC1153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d150258bb_0_168:notes">
            <a:extLst>
              <a:ext uri="{FF2B5EF4-FFF2-40B4-BE49-F238E27FC236}">
                <a16:creationId xmlns:a16="http://schemas.microsoft.com/office/drawing/2014/main" id="{C18B0ED9-D55D-2522-868D-05B498488E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g3ad150258bb_0_168:notes">
            <a:extLst>
              <a:ext uri="{FF2B5EF4-FFF2-40B4-BE49-F238E27FC236}">
                <a16:creationId xmlns:a16="http://schemas.microsoft.com/office/drawing/2014/main" id="{31D6F8F6-97B4-1339-337F-D3D059B342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641084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>
          <a:extLst>
            <a:ext uri="{FF2B5EF4-FFF2-40B4-BE49-F238E27FC236}">
              <a16:creationId xmlns:a16="http://schemas.microsoft.com/office/drawing/2014/main" id="{EC9358C2-0AF0-10DA-7433-E5C5D8211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d150258bb_0_168:notes">
            <a:extLst>
              <a:ext uri="{FF2B5EF4-FFF2-40B4-BE49-F238E27FC236}">
                <a16:creationId xmlns:a16="http://schemas.microsoft.com/office/drawing/2014/main" id="{91BE8D63-20DE-8AF4-DC2E-E0A5A33D7F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g3ad150258bb_0_168:notes">
            <a:extLst>
              <a:ext uri="{FF2B5EF4-FFF2-40B4-BE49-F238E27FC236}">
                <a16:creationId xmlns:a16="http://schemas.microsoft.com/office/drawing/2014/main" id="{DC01D906-4D4D-2DAD-1CA1-8CD6D6A263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35659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>
          <a:extLst>
            <a:ext uri="{FF2B5EF4-FFF2-40B4-BE49-F238E27FC236}">
              <a16:creationId xmlns:a16="http://schemas.microsoft.com/office/drawing/2014/main" id="{D0C4F533-7599-D61F-B566-0F780428C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d150258bb_0_168:notes">
            <a:extLst>
              <a:ext uri="{FF2B5EF4-FFF2-40B4-BE49-F238E27FC236}">
                <a16:creationId xmlns:a16="http://schemas.microsoft.com/office/drawing/2014/main" id="{90EA3FA3-31B2-3F8B-92A1-C79E376ED0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6" name="Google Shape;246;g3ad150258bb_0_168:notes">
            <a:extLst>
              <a:ext uri="{FF2B5EF4-FFF2-40B4-BE49-F238E27FC236}">
                <a16:creationId xmlns:a16="http://schemas.microsoft.com/office/drawing/2014/main" id="{D7D6C5CB-F660-B2C3-7D98-FE71B44B94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028671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>
          <a:extLst>
            <a:ext uri="{FF2B5EF4-FFF2-40B4-BE49-F238E27FC236}">
              <a16:creationId xmlns:a16="http://schemas.microsoft.com/office/drawing/2014/main" id="{C54676D3-7E32-6C3B-C004-087BF5E6B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d150258bb_0_168:notes">
            <a:extLst>
              <a:ext uri="{FF2B5EF4-FFF2-40B4-BE49-F238E27FC236}">
                <a16:creationId xmlns:a16="http://schemas.microsoft.com/office/drawing/2014/main" id="{5D6FE0C9-A4D0-09AB-8FD3-9C280445DF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6" name="Google Shape;246;g3ad150258bb_0_168:notes">
            <a:extLst>
              <a:ext uri="{FF2B5EF4-FFF2-40B4-BE49-F238E27FC236}">
                <a16:creationId xmlns:a16="http://schemas.microsoft.com/office/drawing/2014/main" id="{CBFD029E-892B-8984-F0D0-8D40461FD9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19484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ad150258bb_0_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g3ad150258bb_0_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Slide 1_1_1_TITLEANDBULLETS_F">
  <p:cSld name="TITLE_AND_BODY_2_1_1_1_1_1_1_1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>
            <a:off x="350350" y="226400"/>
            <a:ext cx="3505500" cy="1094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>
            <a:off x="350350" y="1598500"/>
            <a:ext cx="3505500" cy="33186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431800"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06400"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marL="1371600" lvl="2" indent="-38100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marL="1828800" lvl="3" indent="-35560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marL="2286000" lvl="4" indent="-35560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marL="2743200" lvl="5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>
            <a:spLocks noGrp="1"/>
          </p:cNvSpPr>
          <p:nvPr>
            <p:ph type="pic" idx="2"/>
          </p:nvPr>
        </p:nvSpPr>
        <p:spPr>
          <a:xfrm>
            <a:off x="4101622" y="226350"/>
            <a:ext cx="4690800" cy="4690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3.png"/><Relationship Id="rId10" Type="http://schemas.openxmlformats.org/officeDocument/2006/relationships/image" Target="../media/image27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/>
          <p:nvPr/>
        </p:nvSpPr>
        <p:spPr>
          <a:xfrm>
            <a:off x="571500" y="1985218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ICS 502 – MACHINE LEARNING PROJECT</a:t>
            </a:r>
            <a:endParaRPr/>
          </a:p>
        </p:txBody>
      </p:sp>
      <p:sp>
        <p:nvSpPr>
          <p:cNvPr id="91" name="Google Shape;91;p14"/>
          <p:cNvSpPr txBox="1"/>
          <p:nvPr/>
        </p:nvSpPr>
        <p:spPr>
          <a:xfrm>
            <a:off x="295275" y="2579489"/>
            <a:ext cx="11601450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Credit Card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400" b="1" i="0" u="none" strike="noStrike" cap="none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Fraud Detection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571500" y="446901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GROUP 12 - FINAL PROJECT PRESENTATION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Growing Threat</a:t>
            </a:r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5"/>
          <p:cNvSpPr txBox="1"/>
          <p:nvPr/>
        </p:nvSpPr>
        <p:spPr>
          <a:xfrm>
            <a:off x="1809750" y="1885950"/>
            <a:ext cx="8572500" cy="9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Credit card fraud is the most common form of identity theft, costing billions annually and eroding consumer trust.</a:t>
            </a:r>
            <a:endParaRPr sz="2400"/>
          </a:p>
        </p:txBody>
      </p:sp>
      <p:sp>
        <p:nvSpPr>
          <p:cNvPr id="101" name="Google Shape;101;p15"/>
          <p:cNvSpPr txBox="1"/>
          <p:nvPr/>
        </p:nvSpPr>
        <p:spPr>
          <a:xfrm>
            <a:off x="571500" y="3709987"/>
            <a:ext cx="53340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BEF264"/>
                </a:solidFill>
                <a:latin typeface="Outfit"/>
                <a:ea typeface="Outfit"/>
                <a:cs typeface="Outfit"/>
                <a:sym typeface="Outfit"/>
              </a:rPr>
              <a:t>449k</a:t>
            </a:r>
            <a:r>
              <a:rPr lang="en-US" sz="3200" b="0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 sz="3200" b="0" i="0" u="none" strike="noStrike" cap="none">
              <a:solidFill>
                <a:srgbClr val="F8FAFC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Fraud Reports in 2024</a:t>
            </a:r>
            <a:endParaRPr sz="3200"/>
          </a:p>
        </p:txBody>
      </p:sp>
      <p:sp>
        <p:nvSpPr>
          <p:cNvPr id="102" name="Google Shape;102;p15"/>
          <p:cNvSpPr txBox="1"/>
          <p:nvPr/>
        </p:nvSpPr>
        <p:spPr>
          <a:xfrm>
            <a:off x="6286500" y="3709987"/>
            <a:ext cx="53340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BEF264"/>
                </a:solidFill>
                <a:latin typeface="Outfit"/>
                <a:ea typeface="Outfit"/>
                <a:cs typeface="Outfit"/>
                <a:sym typeface="Outfit"/>
              </a:rPr>
              <a:t>8%</a:t>
            </a:r>
            <a:r>
              <a:rPr lang="en-US" sz="3200" b="0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 sz="3200" b="0" i="0" u="none" strike="noStrike" cap="none">
              <a:solidFill>
                <a:srgbClr val="F8FAFC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YoY Increase</a:t>
            </a:r>
            <a:endParaRPr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 txBox="1"/>
          <p:nvPr/>
        </p:nvSpPr>
        <p:spPr>
          <a:xfrm>
            <a:off x="571500" y="571500"/>
            <a:ext cx="52006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Data</a:t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571500" y="1295400"/>
            <a:ext cx="4953000" cy="1905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/>
        </p:nvSpPr>
        <p:spPr>
          <a:xfrm>
            <a:off x="571500" y="1695450"/>
            <a:ext cx="52006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Credit Card Transactions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571500" y="2324100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We utilized a massive, real-world dataset sourced from Kaggle to train our models.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1238250" y="3409950"/>
            <a:ext cx="4286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Volume: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1.29 Million+ Records</a:t>
            </a:r>
            <a:endParaRPr dirty="0"/>
          </a:p>
        </p:txBody>
      </p:sp>
      <p:sp>
        <p:nvSpPr>
          <p:cNvPr id="114" name="Google Shape;114;p16"/>
          <p:cNvSpPr txBox="1"/>
          <p:nvPr/>
        </p:nvSpPr>
        <p:spPr>
          <a:xfrm>
            <a:off x="1238250" y="3857625"/>
            <a:ext cx="4286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Type: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Labeled Data (Supervised Learning)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1238250" y="4305300"/>
            <a:ext cx="4286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Features: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24 columns including time, amount, merchant details, and demographics.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1238250" y="5057775"/>
            <a:ext cx="4286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Challenge: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Extreme Class Imbalance.</a:t>
            </a:r>
            <a:endParaRPr/>
          </a:p>
        </p:txBody>
      </p:sp>
      <p:pic>
        <p:nvPicPr>
          <p:cNvPr id="117" name="Google Shape;11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3467100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391477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4362450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2500" y="5114925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53625" y="3270944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Methodology</a:t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571500" y="3556694"/>
            <a:ext cx="11049000" cy="38100"/>
          </a:xfrm>
          <a:prstGeom prst="roundRect">
            <a:avLst>
              <a:gd name="adj" fmla="val 16667"/>
            </a:avLst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66875" y="3270944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29125" y="3270944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191375" y="3270944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52612" y="3442394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502443" y="4032944"/>
            <a:ext cx="290036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Prep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571500" y="4452044"/>
            <a:ext cx="27622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Cleaning &amp;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Exploration</a:t>
            </a:r>
            <a:endParaRPr/>
          </a:p>
        </p:txBody>
      </p:sp>
      <p:pic>
        <p:nvPicPr>
          <p:cNvPr id="136" name="Google Shape;136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14862" y="3442394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3264693" y="4032944"/>
            <a:ext cx="290036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Feature Eng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3333750" y="4452044"/>
            <a:ext cx="27622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Contextual &amp;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Behavioral</a:t>
            </a:r>
            <a:endParaRPr/>
          </a:p>
        </p:txBody>
      </p:sp>
      <p:pic>
        <p:nvPicPr>
          <p:cNvPr id="139" name="Google Shape;13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334250" y="3442394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6026943" y="4032944"/>
            <a:ext cx="290036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Modeling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6096000" y="4452044"/>
            <a:ext cx="27622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Ensemble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Methods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789193" y="4032944"/>
            <a:ext cx="290036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Evaluation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8858250" y="4452044"/>
            <a:ext cx="276225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Recall &amp;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 PR-AUC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95450"/>
            <a:ext cx="11049000" cy="459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Core Challenge: Imbalance</a:t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875" y="1409700"/>
            <a:ext cx="5381625" cy="2096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0" y="1437525"/>
            <a:ext cx="5381625" cy="2033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3874" y="3729037"/>
            <a:ext cx="5381625" cy="282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95999" y="3709237"/>
            <a:ext cx="5381625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Feature Engineering: Behavioral</a:t>
            </a:r>
            <a:endParaRPr/>
          </a:p>
        </p:txBody>
      </p:sp>
      <p:sp>
        <p:nvSpPr>
          <p:cNvPr id="162" name="Google Shape;162;p19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888142" y="2084560"/>
            <a:ext cx="50006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Temporal Analysis</a:t>
            </a:r>
            <a:endParaRPr dirty="0"/>
          </a:p>
        </p:txBody>
      </p:sp>
      <p:sp>
        <p:nvSpPr>
          <p:cNvPr id="164" name="Google Shape;164;p19"/>
          <p:cNvSpPr txBox="1"/>
          <p:nvPr/>
        </p:nvSpPr>
        <p:spPr>
          <a:xfrm>
            <a:off x="904875" y="2390775"/>
            <a:ext cx="47625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Extracted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Hour of Day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and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Day of Week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. Fraud often peaks during late nights or specific days when user vigilance is low.</a:t>
            </a:r>
            <a:endParaRPr dirty="0"/>
          </a:p>
        </p:txBody>
      </p:sp>
      <p:sp>
        <p:nvSpPr>
          <p:cNvPr id="165" name="Google Shape;165;p19"/>
          <p:cNvSpPr txBox="1"/>
          <p:nvPr/>
        </p:nvSpPr>
        <p:spPr>
          <a:xfrm>
            <a:off x="6548437" y="1981200"/>
            <a:ext cx="50006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Transaction Velocity</a:t>
            </a:r>
            <a:endParaRPr dirty="0"/>
          </a:p>
        </p:txBody>
      </p:sp>
      <p:sp>
        <p:nvSpPr>
          <p:cNvPr id="166" name="Google Shape;166;p19"/>
          <p:cNvSpPr txBox="1"/>
          <p:nvPr/>
        </p:nvSpPr>
        <p:spPr>
          <a:xfrm>
            <a:off x="6524625" y="2324100"/>
            <a:ext cx="4762500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Per recent discussion: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We included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num_of_tx_day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. This feature counts daily transactions per card to immediately flag abnormal frequency spikes.</a:t>
            </a:r>
            <a:endParaRPr dirty="0"/>
          </a:p>
        </p:txBody>
      </p:sp>
      <p:sp>
        <p:nvSpPr>
          <p:cNvPr id="167" name="Google Shape;167;p19"/>
          <p:cNvSpPr txBox="1"/>
          <p:nvPr/>
        </p:nvSpPr>
        <p:spPr>
          <a:xfrm>
            <a:off x="888141" y="4486793"/>
            <a:ext cx="50006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Demographics</a:t>
            </a:r>
            <a:endParaRPr dirty="0"/>
          </a:p>
        </p:txBody>
      </p:sp>
      <p:sp>
        <p:nvSpPr>
          <p:cNvPr id="168" name="Google Shape;168;p19"/>
          <p:cNvSpPr txBox="1"/>
          <p:nvPr/>
        </p:nvSpPr>
        <p:spPr>
          <a:xfrm>
            <a:off x="888141" y="4910265"/>
            <a:ext cx="47625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Derived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Cardholder Age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. Spending patterns often correlate with age groups; deviations from the norm trigger alerts.</a:t>
            </a:r>
            <a:endParaRPr dirty="0"/>
          </a:p>
        </p:txBody>
      </p:sp>
      <p:sp>
        <p:nvSpPr>
          <p:cNvPr id="169" name="Google Shape;169;p19"/>
          <p:cNvSpPr txBox="1"/>
          <p:nvPr/>
        </p:nvSpPr>
        <p:spPr>
          <a:xfrm>
            <a:off x="6405525" y="4479347"/>
            <a:ext cx="500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Scaling</a:t>
            </a:r>
            <a:endParaRPr dirty="0"/>
          </a:p>
        </p:txBody>
      </p:sp>
      <p:sp>
        <p:nvSpPr>
          <p:cNvPr id="170" name="Google Shape;170;p19"/>
          <p:cNvSpPr txBox="1"/>
          <p:nvPr/>
        </p:nvSpPr>
        <p:spPr>
          <a:xfrm>
            <a:off x="6372225" y="4972482"/>
            <a:ext cx="476250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Applied </a:t>
            </a:r>
            <a:r>
              <a:rPr lang="en-US" sz="1500" b="1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StandardScaler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to transaction amounts to normalize high-variance financial data for distance-based models.</a:t>
            </a:r>
            <a:endParaRPr dirty="0"/>
          </a:p>
        </p:txBody>
      </p:sp>
      <p:pic>
        <p:nvPicPr>
          <p:cNvPr id="171" name="Google Shape;17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8142" y="1586556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72250" y="1501369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11942" y="3893792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24625" y="3893792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859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Feature Engineering: Contextual &amp; Geospatial</a:t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571500" y="1733550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Refined Geospatial Features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571500" y="226695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As discussed, we moved beyond raw coordinates to more robust indicators:</a:t>
            </a:r>
            <a:endParaRPr/>
          </a:p>
        </p:txBody>
      </p:sp>
      <p:pic>
        <p:nvPicPr>
          <p:cNvPr id="185" name="Google Shape;18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0859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1238250" y="3067050"/>
            <a:ext cx="4619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User-to-Merchant Distance: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Calculated the specific Euclidean distance between the User's home location and the Merchant's location.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1238250" y="4124325"/>
            <a:ext cx="4619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Significance: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This indicates the physical feasibility of the transaction. Impossible travel distances (e.g., 500km in 10 mins) are prime fraud indicators.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1238250" y="5181600"/>
            <a:ext cx="4619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Processing: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We applied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Standard Scaling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to this distance feature to ensure outlier distances do not skew the model's weights.</a:t>
            </a:r>
            <a:endParaRPr/>
          </a:p>
        </p:txBody>
      </p:sp>
      <p:pic>
        <p:nvPicPr>
          <p:cNvPr id="189" name="Google Shape;189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3124200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418147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5238750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08597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F</a:t>
            </a:r>
            <a:r>
              <a:rPr lang="en-US" sz="3600" b="1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inal Feature Set</a:t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571500" y="1295400"/>
            <a:ext cx="11049000" cy="1920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571500" y="1733550"/>
            <a:ext cx="55506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571500" y="2266950"/>
            <a:ext cx="5286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1238250" y="3067050"/>
            <a:ext cx="4619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1238250" y="4124325"/>
            <a:ext cx="4619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1238250" y="5181600"/>
            <a:ext cx="4619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00" y="1484400"/>
            <a:ext cx="5753100" cy="440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67625" y="1484400"/>
            <a:ext cx="5286300" cy="26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2" descr="image.png"/>
          <p:cNvPicPr preferRelativeResize="0"/>
          <p:nvPr/>
        </p:nvPicPr>
        <p:blipFill rotWithShape="1">
          <a:blip r:embed="rId3">
            <a:alphaModFix/>
          </a:blip>
          <a:srcRect l="880" r="-88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48655"/>
            <a:ext cx="5381625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14900" y="1448655"/>
            <a:ext cx="5381625" cy="23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3950" y="3889711"/>
            <a:ext cx="5381625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97395" y="3889711"/>
            <a:ext cx="5381625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Model Selection &amp; Strategy Pivot</a:t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571500" y="1295400"/>
            <a:ext cx="11049000" cy="1920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 txBox="1"/>
          <p:nvPr/>
        </p:nvSpPr>
        <p:spPr>
          <a:xfrm>
            <a:off x="842850" y="1926752"/>
            <a:ext cx="500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EF4444"/>
                </a:solidFill>
                <a:latin typeface="Space Grotesk"/>
                <a:ea typeface="Space Grotesk"/>
                <a:cs typeface="Space Grotesk"/>
                <a:sym typeface="Space Grotesk"/>
              </a:rPr>
              <a:t>Strategic Pivot: Removing LR &amp; KNN</a:t>
            </a:r>
            <a:endParaRPr dirty="0"/>
          </a:p>
        </p:txBody>
      </p:sp>
      <p:sp>
        <p:nvSpPr>
          <p:cNvPr id="219" name="Google Shape;219;p22"/>
          <p:cNvSpPr txBox="1"/>
          <p:nvPr/>
        </p:nvSpPr>
        <p:spPr>
          <a:xfrm>
            <a:off x="904875" y="2244961"/>
            <a:ext cx="4762500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Initial models,</a:t>
            </a:r>
            <a:r>
              <a:rPr lang="en-US" b="1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Logistic Regression </a:t>
            </a:r>
            <a:r>
              <a:rPr lang="en-US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(too simplistic/</a:t>
            </a:r>
            <a:r>
              <a:rPr lang="en-US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cannot capture complexity</a:t>
            </a:r>
            <a:r>
              <a:rPr lang="en-US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) and </a:t>
            </a:r>
            <a:r>
              <a:rPr lang="en-US" b="1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KNN</a:t>
            </a:r>
            <a:r>
              <a:rPr lang="en-US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(O(N) complexity), were inefficient for the 1.3M record dataset and failed to capture complex fraud patterns required for high Recall.</a:t>
            </a:r>
            <a:endParaRPr sz="1200" dirty="0"/>
          </a:p>
        </p:txBody>
      </p:sp>
      <p:sp>
        <p:nvSpPr>
          <p:cNvPr id="220" name="Google Shape;220;p22"/>
          <p:cNvSpPr txBox="1"/>
          <p:nvPr/>
        </p:nvSpPr>
        <p:spPr>
          <a:xfrm>
            <a:off x="6572250" y="2038889"/>
            <a:ext cx="500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Linear SVC</a:t>
            </a:r>
            <a:endParaRPr dirty="0"/>
          </a:p>
        </p:txBody>
      </p:sp>
      <p:sp>
        <p:nvSpPr>
          <p:cNvPr id="221" name="Google Shape;221;p22"/>
          <p:cNvSpPr txBox="1"/>
          <p:nvPr/>
        </p:nvSpPr>
        <p:spPr>
          <a:xfrm>
            <a:off x="6548437" y="2282623"/>
            <a:ext cx="47625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Chosen as the new **linear baseline**. Using hinge loss, it efficiently finds the optimal hyperplane in high-dimensional space and handles imbalance via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class_weight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dirty="0"/>
          </a:p>
        </p:txBody>
      </p:sp>
      <p:sp>
        <p:nvSpPr>
          <p:cNvPr id="222" name="Google Shape;222;p22"/>
          <p:cNvSpPr txBox="1"/>
          <p:nvPr/>
        </p:nvSpPr>
        <p:spPr>
          <a:xfrm>
            <a:off x="842850" y="4560110"/>
            <a:ext cx="500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HistGradientBoosting</a:t>
            </a:r>
            <a:endParaRPr dirty="0"/>
          </a:p>
        </p:txBody>
      </p:sp>
      <p:sp>
        <p:nvSpPr>
          <p:cNvPr id="223" name="Google Shape;223;p22"/>
          <p:cNvSpPr txBox="1"/>
          <p:nvPr/>
        </p:nvSpPr>
        <p:spPr>
          <a:xfrm>
            <a:off x="842850" y="5068809"/>
            <a:ext cx="47625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Selected for **efficiency**. Its histogram-based binning allows for rapid training on 1M+ records, solving standard ensemble slowness.</a:t>
            </a:r>
            <a:endParaRPr dirty="0"/>
          </a:p>
        </p:txBody>
      </p:sp>
      <p:sp>
        <p:nvSpPr>
          <p:cNvPr id="224" name="Google Shape;224;p22"/>
          <p:cNvSpPr txBox="1"/>
          <p:nvPr/>
        </p:nvSpPr>
        <p:spPr>
          <a:xfrm>
            <a:off x="6495825" y="4560110"/>
            <a:ext cx="500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XGBoost</a:t>
            </a:r>
            <a:endParaRPr dirty="0"/>
          </a:p>
        </p:txBody>
      </p:sp>
      <p:sp>
        <p:nvSpPr>
          <p:cNvPr id="225" name="Google Shape;225;p22"/>
          <p:cNvSpPr txBox="1"/>
          <p:nvPr/>
        </p:nvSpPr>
        <p:spPr>
          <a:xfrm>
            <a:off x="6429525" y="5068809"/>
            <a:ext cx="47625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The **champion model**. Optimized for speed and performance with native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scale_pos_weight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parameter to handle imbalance natively.</a:t>
            </a:r>
            <a:endParaRPr dirty="0"/>
          </a:p>
        </p:txBody>
      </p:sp>
      <p:pic>
        <p:nvPicPr>
          <p:cNvPr id="226" name="Google Shape;226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4875" y="1588228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72250" y="1571789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850" y="4098452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2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34150" y="4102898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790825"/>
            <a:ext cx="5286375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Evaluation Strategy</a:t>
            </a:r>
            <a:endParaRPr/>
          </a:p>
        </p:txBody>
      </p:sp>
      <p:sp>
        <p:nvSpPr>
          <p:cNvPr id="237" name="Google Shape;237;p23"/>
          <p:cNvSpPr/>
          <p:nvPr/>
        </p:nvSpPr>
        <p:spPr>
          <a:xfrm>
            <a:off x="571500" y="1295400"/>
            <a:ext cx="11049000" cy="1905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571500" y="2809875"/>
            <a:ext cx="555069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Why Accuracy Fails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571500" y="334327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With 99.4% legitimate transactions, a "dumb" model that predicts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No Fraud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every time achieves 99.4% accuracy but catches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0%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of fraud.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6353175" y="2809875"/>
            <a:ext cx="551068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Solution: PR-AUC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6353175" y="3343275"/>
            <a:ext cx="52482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We prioritize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Recall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(finding all fraud) and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Precision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(minimizing false alarms). Area Under the Precision-Recall Curve is the gold standard for imbalance.</a:t>
            </a:r>
            <a:endParaRPr/>
          </a:p>
        </p:txBody>
      </p:sp>
      <p:pic>
        <p:nvPicPr>
          <p:cNvPr id="242" name="Google Shape;24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524375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53175" y="4524375"/>
            <a:ext cx="571500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Model Hyper-Parameter Tuning - GridSearch</a:t>
            </a:r>
            <a:endParaRPr sz="3600" b="1">
              <a:solidFill>
                <a:srgbClr val="BEF264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571500" y="1295400"/>
            <a:ext cx="11049000" cy="1920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 txBox="1"/>
          <p:nvPr/>
        </p:nvSpPr>
        <p:spPr>
          <a:xfrm>
            <a:off x="467925" y="1484400"/>
            <a:ext cx="11601600" cy="56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8100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400"/>
              <a:buFont typeface="Outfit"/>
              <a:buAutoNum type="arabicPeriod"/>
            </a:pPr>
            <a:r>
              <a:rPr lang="en-US" sz="24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GridSearch systematically explores every hyper-parameter combination for optimal model configuration.</a:t>
            </a:r>
            <a:endParaRPr sz="2400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57200" marR="0" lvl="0" indent="-38100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400"/>
              <a:buFont typeface="Outfit"/>
              <a:buAutoNum type="arabicPeriod"/>
            </a:pPr>
            <a:r>
              <a:rPr lang="en-US" sz="24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To manage the 0.58% fraud rate challenge, use of stratified cross validation which perfectly preserves the severe class imbalance across every validation fold. Crucially, the search is guided by objective scoring (scoring=’recall’), which focuses the hyper-parameter tuning on maximizing the detection of fraud.</a:t>
            </a:r>
            <a:endParaRPr sz="2400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457200" marR="0" lvl="0" indent="-38100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400"/>
              <a:buFont typeface="Outfit"/>
              <a:buAutoNum type="arabicPeriod"/>
            </a:pPr>
            <a:r>
              <a:rPr lang="en-US" sz="240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Pipeline architecture for maintaining experimental integrity and preventing data leakage. This workflow ensures that all preprocessing is applied consistently to all folds guaranteeing a fair and reproducible evaluation.</a:t>
            </a:r>
            <a:endParaRPr sz="2400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2" name="Google Shape;252;p24"/>
          <p:cNvSpPr txBox="1"/>
          <p:nvPr/>
        </p:nvSpPr>
        <p:spPr>
          <a:xfrm>
            <a:off x="571500" y="3709987"/>
            <a:ext cx="533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7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Model Training: LinearSVC (Baseline)</a:t>
            </a:r>
            <a:endParaRPr/>
          </a:p>
        </p:txBody>
      </p:sp>
      <p:sp>
        <p:nvSpPr>
          <p:cNvPr id="292" name="Google Shape;292;p27"/>
          <p:cNvSpPr/>
          <p:nvPr/>
        </p:nvSpPr>
        <p:spPr>
          <a:xfrm>
            <a:off x="571500" y="1295400"/>
            <a:ext cx="11049000" cy="1920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7"/>
          <p:cNvSpPr txBox="1"/>
          <p:nvPr/>
        </p:nvSpPr>
        <p:spPr>
          <a:xfrm>
            <a:off x="1238250" y="1847850"/>
            <a:ext cx="5676900" cy="12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Linear Baseline Selection:</a:t>
            </a:r>
            <a:endParaRPr sz="1500" b="1" i="0" u="none" strike="noStrike" cap="none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Chosen to determine the maximum predictive power of a single, optimal linear decision boundary in our high-dimensional feature space, contrasting with the ensemble complexity.</a:t>
            </a:r>
            <a:endParaRPr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4" name="Google Shape;294;p27"/>
          <p:cNvSpPr txBox="1"/>
          <p:nvPr/>
        </p:nvSpPr>
        <p:spPr>
          <a:xfrm>
            <a:off x="1238250" y="3219450"/>
            <a:ext cx="5676900" cy="12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Critical Imbalance Handling:</a:t>
            </a:r>
            <a:endParaRPr sz="1500" b="1" i="0" u="none" strike="noStrike" cap="none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Set class_weight = ‘balanced’. This assigns higher penalties to misclassified fraudulent samples, forcing the hyperplane to prioritize the minority class.</a:t>
            </a:r>
            <a:endParaRPr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5" name="Google Shape;295;p27"/>
          <p:cNvSpPr txBox="1"/>
          <p:nvPr/>
        </p:nvSpPr>
        <p:spPr>
          <a:xfrm>
            <a:off x="1238250" y="4670077"/>
            <a:ext cx="5676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Max Margin Loss:</a:t>
            </a:r>
            <a:endParaRPr sz="1500" b="1" i="0" u="none" strike="noStrike" cap="none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Utilized loss=’hinge’ to maximize the margin between classes, creating a decision boundary robust against noise and outliers.</a:t>
            </a:r>
            <a:endParaRPr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6" name="Google Shape;296;p27"/>
          <p:cNvSpPr txBox="1"/>
          <p:nvPr/>
        </p:nvSpPr>
        <p:spPr>
          <a:xfrm>
            <a:off x="1238250" y="5863530"/>
            <a:ext cx="56769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Optimized Hyperparameters:</a:t>
            </a:r>
            <a:endParaRPr sz="1500" b="1" i="0" u="none" strike="noStrike" cap="none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Tuned for maximum recall while defining convergence thresholds.</a:t>
            </a:r>
            <a:endParaRPr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7" name="Google Shape;297;p27"/>
          <p:cNvSpPr txBox="1"/>
          <p:nvPr/>
        </p:nvSpPr>
        <p:spPr>
          <a:xfrm>
            <a:off x="1238250" y="7199858"/>
            <a:ext cx="56769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Evaluation Strategy:</a:t>
            </a:r>
            <a:endParaRPr/>
          </a:p>
        </p:txBody>
      </p:sp>
      <p:pic>
        <p:nvPicPr>
          <p:cNvPr id="298" name="Google Shape;298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191452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328612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4736752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593020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7266533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34200" y="1547925"/>
            <a:ext cx="4586300" cy="4525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5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Model Training: HistGradientBoosting</a:t>
            </a:r>
            <a:endParaRPr/>
          </a:p>
        </p:txBody>
      </p:sp>
      <p:sp>
        <p:nvSpPr>
          <p:cNvPr id="259" name="Google Shape;259;p25"/>
          <p:cNvSpPr/>
          <p:nvPr/>
        </p:nvSpPr>
        <p:spPr>
          <a:xfrm>
            <a:off x="571500" y="1295400"/>
            <a:ext cx="11049000" cy="1920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 txBox="1"/>
          <p:nvPr/>
        </p:nvSpPr>
        <p:spPr>
          <a:xfrm>
            <a:off x="1238250" y="1847850"/>
            <a:ext cx="4619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Computational Efficiency: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1238250" y="3752850"/>
            <a:ext cx="4619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High Predictive Power: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1238250" y="5274125"/>
            <a:ext cx="46197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Optimized Complexity:</a:t>
            </a:r>
            <a:endParaRPr/>
          </a:p>
        </p:txBody>
      </p:sp>
      <p:pic>
        <p:nvPicPr>
          <p:cNvPr id="263" name="Google Shape;263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1924050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3829050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66775" y="5318188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87547" y="1707700"/>
            <a:ext cx="6632949" cy="35664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 txBox="1"/>
          <p:nvPr/>
        </p:nvSpPr>
        <p:spPr>
          <a:xfrm>
            <a:off x="1200150" y="2168125"/>
            <a:ext cx="3625500" cy="14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Uses a fast, histogram-based algorithm to bin continuous features. This allows for rapid training, significantly outperforming traditional GMBs.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 txBox="1"/>
          <p:nvPr/>
        </p:nvSpPr>
        <p:spPr>
          <a:xfrm>
            <a:off x="1200025" y="4150525"/>
            <a:ext cx="3625500" cy="11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As an ensemble method, it sequentially corrects errors from previous trees. It excels at capturing complex, non-linear interactions between features.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 txBox="1"/>
          <p:nvPr/>
        </p:nvSpPr>
        <p:spPr>
          <a:xfrm>
            <a:off x="1200025" y="5657850"/>
            <a:ext cx="3500400" cy="96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To balance depth and regularization, preventing overfitting to minority classes.</a:t>
            </a:r>
            <a:endParaRPr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6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Model Training: XGBoost</a:t>
            </a:r>
            <a:endParaRPr/>
          </a:p>
        </p:txBody>
      </p:sp>
      <p:sp>
        <p:nvSpPr>
          <p:cNvPr id="276" name="Google Shape;276;p26"/>
          <p:cNvSpPr/>
          <p:nvPr/>
        </p:nvSpPr>
        <p:spPr>
          <a:xfrm>
            <a:off x="571500" y="1295400"/>
            <a:ext cx="11049000" cy="1920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6"/>
          <p:cNvSpPr txBox="1"/>
          <p:nvPr/>
        </p:nvSpPr>
        <p:spPr>
          <a:xfrm>
            <a:off x="1238250" y="1847850"/>
            <a:ext cx="4005300" cy="12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Model Selection:</a:t>
            </a:r>
            <a:endParaRPr sz="1500" b="1" i="0" u="none" strike="noStrike" cap="none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Chosen as the most advanced ensemble method, representing the performance ceiling for tree-based prediction on structured data.</a:t>
            </a:r>
            <a:endParaRPr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8" name="Google Shape;278;p26"/>
          <p:cNvSpPr txBox="1"/>
          <p:nvPr/>
        </p:nvSpPr>
        <p:spPr>
          <a:xfrm>
            <a:off x="1238250" y="3180100"/>
            <a:ext cx="4140900" cy="12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Native Imbalance Handling:</a:t>
            </a:r>
            <a:endParaRPr sz="1500" b="1" i="0" u="none" strike="noStrike" cap="none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Setting scale_pos_weight = 15, allows for a higher penalty for missing a fraudulent transaction, directly addressing the severe imbalance.</a:t>
            </a:r>
            <a:endParaRPr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9" name="Google Shape;279;p26"/>
          <p:cNvSpPr txBox="1"/>
          <p:nvPr/>
        </p:nvSpPr>
        <p:spPr>
          <a:xfrm>
            <a:off x="1238250" y="4412900"/>
            <a:ext cx="40053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Regularization &amp; Structure:</a:t>
            </a:r>
            <a:endParaRPr sz="1500" b="1" i="0" u="none" strike="noStrike" cap="none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Balanced complexity and robustness to migrate overfitting.</a:t>
            </a:r>
            <a:endParaRPr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80" name="Google Shape;280;p26"/>
          <p:cNvSpPr txBox="1"/>
          <p:nvPr/>
        </p:nvSpPr>
        <p:spPr>
          <a:xfrm>
            <a:off x="1238250" y="5442483"/>
            <a:ext cx="56769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Efficiency:</a:t>
            </a:r>
            <a:endParaRPr sz="1500" b="1" i="0" u="none" strike="noStrike" cap="none"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utilized tree_method="hist for scalability, ensuring fast training times on the large dataset.</a:t>
            </a:r>
            <a:endParaRPr>
              <a:solidFill>
                <a:srgbClr val="CBD5E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281" name="Google Shape;281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191452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0800000" flipH="1">
            <a:off x="952500" y="3197041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4479577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00" y="5474996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9250" y="1484400"/>
            <a:ext cx="6527000" cy="326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8"/>
          <p:cNvSpPr txBox="1"/>
          <p:nvPr/>
        </p:nvSpPr>
        <p:spPr>
          <a:xfrm>
            <a:off x="295275" y="571500"/>
            <a:ext cx="116016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Final Optimal Params</a:t>
            </a:r>
            <a:endParaRPr/>
          </a:p>
        </p:txBody>
      </p:sp>
      <p:pic>
        <p:nvPicPr>
          <p:cNvPr id="310" name="Google Shape;31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257773"/>
            <a:ext cx="12192000" cy="433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47">
          <a:extLst>
            <a:ext uri="{FF2B5EF4-FFF2-40B4-BE49-F238E27FC236}">
              <a16:creationId xmlns:a16="http://schemas.microsoft.com/office/drawing/2014/main" id="{306B283E-131F-FC04-B206-8E887EAAA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4" descr="image.png">
            <a:extLst>
              <a:ext uri="{FF2B5EF4-FFF2-40B4-BE49-F238E27FC236}">
                <a16:creationId xmlns:a16="http://schemas.microsoft.com/office/drawing/2014/main" id="{F872AACB-B7D7-605C-1F8E-2C540F860E8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6234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>
            <a:extLst>
              <a:ext uri="{FF2B5EF4-FFF2-40B4-BE49-F238E27FC236}">
                <a16:creationId xmlns:a16="http://schemas.microsoft.com/office/drawing/2014/main" id="{E9E65B77-DF0A-71E5-2D72-69F26FA79811}"/>
              </a:ext>
            </a:extLst>
          </p:cNvPr>
          <p:cNvSpPr txBox="1"/>
          <p:nvPr/>
        </p:nvSpPr>
        <p:spPr>
          <a:xfrm>
            <a:off x="878032" y="568350"/>
            <a:ext cx="116016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		Final Model Training &amp; Evaluation</a:t>
            </a:r>
          </a:p>
        </p:txBody>
      </p:sp>
      <p:sp>
        <p:nvSpPr>
          <p:cNvPr id="250" name="Google Shape;250;p24">
            <a:extLst>
              <a:ext uri="{FF2B5EF4-FFF2-40B4-BE49-F238E27FC236}">
                <a16:creationId xmlns:a16="http://schemas.microsoft.com/office/drawing/2014/main" id="{52540922-84D2-0324-0AB0-B8EC06A21997}"/>
              </a:ext>
            </a:extLst>
          </p:cNvPr>
          <p:cNvSpPr/>
          <p:nvPr/>
        </p:nvSpPr>
        <p:spPr>
          <a:xfrm>
            <a:off x="571500" y="1295400"/>
            <a:ext cx="11049000" cy="1920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>
            <a:extLst>
              <a:ext uri="{FF2B5EF4-FFF2-40B4-BE49-F238E27FC236}">
                <a16:creationId xmlns:a16="http://schemas.microsoft.com/office/drawing/2014/main" id="{F91C2D38-774D-60CA-7A6F-E6467D8B579A}"/>
              </a:ext>
            </a:extLst>
          </p:cNvPr>
          <p:cNvSpPr txBox="1"/>
          <p:nvPr/>
        </p:nvSpPr>
        <p:spPr>
          <a:xfrm>
            <a:off x="467925" y="1484400"/>
            <a:ext cx="11601600" cy="4727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76200" marR="0" lvl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400"/>
            </a:pPr>
            <a:r>
              <a:rPr lang="en-US" sz="2400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Overview:</a:t>
            </a:r>
          </a:p>
          <a:p>
            <a:pPr marL="457200" marR="0" lvl="0" indent="-38100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400"/>
              <a:buFont typeface="Outfit"/>
              <a:buAutoNum type="arabicPeriod"/>
            </a:pPr>
            <a:r>
              <a:rPr lang="en-US" sz="2400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All models were retrained using optimal parameters and evaluated on the test set. The results clearly show that fraud detection requires non-linear models capable of capturing rare and complex patterns.</a:t>
            </a:r>
          </a:p>
          <a:p>
            <a:pPr marL="76200" marR="0" lvl="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400"/>
            </a:pPr>
            <a:r>
              <a:rPr lang="en-US" sz="2400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Key Results:</a:t>
            </a:r>
          </a:p>
          <a:p>
            <a:pPr marL="533400" indent="-457200">
              <a:lnSpc>
                <a:spcPct val="160000"/>
              </a:lnSpc>
              <a:buClr>
                <a:srgbClr val="CBD5E1"/>
              </a:buClr>
              <a:buSzPts val="2400"/>
              <a:buFont typeface="+mj-lt"/>
              <a:buAutoNum type="arabicPeriod"/>
            </a:pPr>
            <a:r>
              <a:rPr lang="en-US" sz="2400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Linear SVC → Baseline model; completely ineffective</a:t>
            </a:r>
          </a:p>
          <a:p>
            <a:pPr marL="457200" marR="0" lvl="0" indent="-38100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400"/>
              <a:buFont typeface="Outfit"/>
              <a:buAutoNum type="arabicPeriod"/>
            </a:pPr>
            <a:r>
              <a:rPr lang="en-US" sz="2400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HistGradientBoostingClassifier</a:t>
            </a:r>
            <a:r>
              <a:rPr lang="en-US" sz="2400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→ Best overall balance</a:t>
            </a:r>
          </a:p>
          <a:p>
            <a:pPr marL="457200" marR="0" lvl="0" indent="-381000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400"/>
              <a:buFont typeface="Outfit"/>
              <a:buAutoNum type="arabicPeriod"/>
            </a:pPr>
            <a:r>
              <a:rPr lang="en-US" sz="2400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XGBoost</a:t>
            </a:r>
            <a:r>
              <a:rPr lang="en-US" sz="2400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→ Highest recall (best fraud catcher)</a:t>
            </a:r>
          </a:p>
        </p:txBody>
      </p:sp>
      <p:sp>
        <p:nvSpPr>
          <p:cNvPr id="252" name="Google Shape;252;p24">
            <a:extLst>
              <a:ext uri="{FF2B5EF4-FFF2-40B4-BE49-F238E27FC236}">
                <a16:creationId xmlns:a16="http://schemas.microsoft.com/office/drawing/2014/main" id="{7E499C4B-9702-A119-934C-6754EF902E5D}"/>
              </a:ext>
            </a:extLst>
          </p:cNvPr>
          <p:cNvSpPr txBox="1"/>
          <p:nvPr/>
        </p:nvSpPr>
        <p:spPr>
          <a:xfrm>
            <a:off x="571500" y="3709987"/>
            <a:ext cx="533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</p:txBody>
      </p:sp>
    </p:spTree>
    <p:extLst>
      <p:ext uri="{BB962C8B-B14F-4D97-AF65-F5344CB8AC3E}">
        <p14:creationId xmlns:p14="http://schemas.microsoft.com/office/powerpoint/2010/main" val="4093398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47">
          <a:extLst>
            <a:ext uri="{FF2B5EF4-FFF2-40B4-BE49-F238E27FC236}">
              <a16:creationId xmlns:a16="http://schemas.microsoft.com/office/drawing/2014/main" id="{9440292D-6C43-C338-64C1-937602C44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4" descr="image.png">
            <a:extLst>
              <a:ext uri="{FF2B5EF4-FFF2-40B4-BE49-F238E27FC236}">
                <a16:creationId xmlns:a16="http://schemas.microsoft.com/office/drawing/2014/main" id="{1982DD9F-7375-3327-F563-FA1535534BD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6759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>
            <a:extLst>
              <a:ext uri="{FF2B5EF4-FFF2-40B4-BE49-F238E27FC236}">
                <a16:creationId xmlns:a16="http://schemas.microsoft.com/office/drawing/2014/main" id="{4DC97B70-EC61-7C4E-9803-9A9BD9377EFC}"/>
              </a:ext>
            </a:extLst>
          </p:cNvPr>
          <p:cNvSpPr txBox="1"/>
          <p:nvPr/>
        </p:nvSpPr>
        <p:spPr>
          <a:xfrm>
            <a:off x="426028" y="550809"/>
            <a:ext cx="116016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		Comparative Model Performance</a:t>
            </a:r>
          </a:p>
        </p:txBody>
      </p:sp>
      <p:sp>
        <p:nvSpPr>
          <p:cNvPr id="250" name="Google Shape;250;p24">
            <a:extLst>
              <a:ext uri="{FF2B5EF4-FFF2-40B4-BE49-F238E27FC236}">
                <a16:creationId xmlns:a16="http://schemas.microsoft.com/office/drawing/2014/main" id="{D07B488C-7421-B9F1-23AB-A74B9259D2DB}"/>
              </a:ext>
            </a:extLst>
          </p:cNvPr>
          <p:cNvSpPr/>
          <p:nvPr/>
        </p:nvSpPr>
        <p:spPr>
          <a:xfrm>
            <a:off x="571500" y="1295400"/>
            <a:ext cx="11049000" cy="1920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>
            <a:extLst>
              <a:ext uri="{FF2B5EF4-FFF2-40B4-BE49-F238E27FC236}">
                <a16:creationId xmlns:a16="http://schemas.microsoft.com/office/drawing/2014/main" id="{1BFE57D5-A3C6-00C8-1245-C757757C3151}"/>
              </a:ext>
            </a:extLst>
          </p:cNvPr>
          <p:cNvSpPr txBox="1"/>
          <p:nvPr/>
        </p:nvSpPr>
        <p:spPr>
          <a:xfrm>
            <a:off x="571500" y="3709987"/>
            <a:ext cx="533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530305F-08CA-4556-BB6C-7F4FB56506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4719"/>
              </p:ext>
            </p:extLst>
          </p:nvPr>
        </p:nvGraphicFramePr>
        <p:xfrm>
          <a:off x="883636" y="1890649"/>
          <a:ext cx="9959688" cy="3374779"/>
        </p:xfrm>
        <a:graphic>
          <a:graphicData uri="http://schemas.openxmlformats.org/drawingml/2006/table">
            <a:tbl>
              <a:tblPr/>
              <a:tblGrid>
                <a:gridCol w="1941316">
                  <a:extLst>
                    <a:ext uri="{9D8B030D-6E8A-4147-A177-3AD203B41FA5}">
                      <a16:colId xmlns:a16="http://schemas.microsoft.com/office/drawing/2014/main" val="2468703728"/>
                    </a:ext>
                  </a:extLst>
                </a:gridCol>
                <a:gridCol w="2004593">
                  <a:extLst>
                    <a:ext uri="{9D8B030D-6E8A-4147-A177-3AD203B41FA5}">
                      <a16:colId xmlns:a16="http://schemas.microsoft.com/office/drawing/2014/main" val="2258092405"/>
                    </a:ext>
                  </a:extLst>
                </a:gridCol>
                <a:gridCol w="2004593">
                  <a:extLst>
                    <a:ext uri="{9D8B030D-6E8A-4147-A177-3AD203B41FA5}">
                      <a16:colId xmlns:a16="http://schemas.microsoft.com/office/drawing/2014/main" val="1098498425"/>
                    </a:ext>
                  </a:extLst>
                </a:gridCol>
                <a:gridCol w="2004593">
                  <a:extLst>
                    <a:ext uri="{9D8B030D-6E8A-4147-A177-3AD203B41FA5}">
                      <a16:colId xmlns:a16="http://schemas.microsoft.com/office/drawing/2014/main" val="2690546802"/>
                    </a:ext>
                  </a:extLst>
                </a:gridCol>
                <a:gridCol w="2004593">
                  <a:extLst>
                    <a:ext uri="{9D8B030D-6E8A-4147-A177-3AD203B41FA5}">
                      <a16:colId xmlns:a16="http://schemas.microsoft.com/office/drawing/2014/main" val="3460459940"/>
                    </a:ext>
                  </a:extLst>
                </a:gridCol>
              </a:tblGrid>
              <a:tr h="327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Recall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Precision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F1-Score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Key Insight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9683349"/>
                  </a:ext>
                </a:extLst>
              </a:tr>
              <a:tr h="1015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chemeClr val="bg1"/>
                          </a:solidFill>
                        </a:rPr>
                        <a:t>HistGradientBoosting</a:t>
                      </a:r>
                      <a:endParaRPr lang="en-IN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0.857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0.972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0.91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Excellent precision &amp; strong recall. Best balance.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989284"/>
                  </a:ext>
                </a:extLst>
              </a:tr>
              <a:tr h="1015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>
                          <a:solidFill>
                            <a:schemeClr val="bg1"/>
                          </a:solidFill>
                        </a:rPr>
                        <a:t>XGBoost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0.921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0.729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0.81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Highest recall; suitable when missing fraud is unacceptable.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065453"/>
                  </a:ext>
                </a:extLst>
              </a:tr>
              <a:tr h="10157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solidFill>
                            <a:schemeClr val="bg1"/>
                          </a:solidFill>
                        </a:rPr>
                        <a:t>Linear SVC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0.000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0.000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0.00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Fails to detect fraud. Linear boundary insufficient.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960315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17B9E95-1B91-1A4B-3144-885F945D7D43}"/>
              </a:ext>
            </a:extLst>
          </p:cNvPr>
          <p:cNvSpPr txBox="1"/>
          <p:nvPr/>
        </p:nvSpPr>
        <p:spPr>
          <a:xfrm>
            <a:off x="883636" y="5487534"/>
            <a:ext cx="109067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Takeaway:</a:t>
            </a:r>
            <a:r>
              <a:rPr lang="en-US" sz="2000" dirty="0">
                <a:solidFill>
                  <a:schemeClr val="bg1"/>
                </a:solidFill>
              </a:rPr>
              <a:t> Fraud detection is highly non-linear → Boosting models outperform linear models by a large margin.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6356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47">
          <a:extLst>
            <a:ext uri="{FF2B5EF4-FFF2-40B4-BE49-F238E27FC236}">
              <a16:creationId xmlns:a16="http://schemas.microsoft.com/office/drawing/2014/main" id="{D5D03E53-E45A-0F47-7878-3F82B031B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4" descr="image.png">
            <a:extLst>
              <a:ext uri="{FF2B5EF4-FFF2-40B4-BE49-F238E27FC236}">
                <a16:creationId xmlns:a16="http://schemas.microsoft.com/office/drawing/2014/main" id="{C6D1C12E-689B-DE62-26F3-BA5779BE318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9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>
            <a:extLst>
              <a:ext uri="{FF2B5EF4-FFF2-40B4-BE49-F238E27FC236}">
                <a16:creationId xmlns:a16="http://schemas.microsoft.com/office/drawing/2014/main" id="{61AE7C55-22C5-60F6-1D22-F19D68EBF619}"/>
              </a:ext>
            </a:extLst>
          </p:cNvPr>
          <p:cNvSpPr txBox="1"/>
          <p:nvPr/>
        </p:nvSpPr>
        <p:spPr>
          <a:xfrm>
            <a:off x="571500" y="600165"/>
            <a:ext cx="116016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		Key Findings &amp; Lessons Learned</a:t>
            </a:r>
          </a:p>
        </p:txBody>
      </p:sp>
      <p:sp>
        <p:nvSpPr>
          <p:cNvPr id="250" name="Google Shape;250;p24">
            <a:extLst>
              <a:ext uri="{FF2B5EF4-FFF2-40B4-BE49-F238E27FC236}">
                <a16:creationId xmlns:a16="http://schemas.microsoft.com/office/drawing/2014/main" id="{B3AEBBE2-17D9-C746-CA82-229CE224496F}"/>
              </a:ext>
            </a:extLst>
          </p:cNvPr>
          <p:cNvSpPr/>
          <p:nvPr/>
        </p:nvSpPr>
        <p:spPr>
          <a:xfrm>
            <a:off x="571500" y="1295400"/>
            <a:ext cx="11049000" cy="1920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>
            <a:extLst>
              <a:ext uri="{FF2B5EF4-FFF2-40B4-BE49-F238E27FC236}">
                <a16:creationId xmlns:a16="http://schemas.microsoft.com/office/drawing/2014/main" id="{9BEE1481-AB40-6123-FBC7-21F79296BBD6}"/>
              </a:ext>
            </a:extLst>
          </p:cNvPr>
          <p:cNvSpPr txBox="1"/>
          <p:nvPr/>
        </p:nvSpPr>
        <p:spPr>
          <a:xfrm>
            <a:off x="571500" y="3709987"/>
            <a:ext cx="533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9BB079-4063-CB6C-856D-76C553DF6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" y="1569147"/>
            <a:ext cx="1040274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Discussion Points: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Boosting models excel because they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iteratively correct errors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focusing on minority-class fraud cases.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HistGradientBoosting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provides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best balance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between high precision (less noise) and strong recall.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captures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most fraud cases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but introduces more false positives.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Linear SVC confirms that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fraud patterns cannot be separated linearly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778519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47">
          <a:extLst>
            <a:ext uri="{FF2B5EF4-FFF2-40B4-BE49-F238E27FC236}">
              <a16:creationId xmlns:a16="http://schemas.microsoft.com/office/drawing/2014/main" id="{C4999E7C-CEE9-F472-7CF8-196E0EBAA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4" descr="image.png">
            <a:extLst>
              <a:ext uri="{FF2B5EF4-FFF2-40B4-BE49-F238E27FC236}">
                <a16:creationId xmlns:a16="http://schemas.microsoft.com/office/drawing/2014/main" id="{01FC48CF-0771-7AB5-CB70-1987502452F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89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>
            <a:extLst>
              <a:ext uri="{FF2B5EF4-FFF2-40B4-BE49-F238E27FC236}">
                <a16:creationId xmlns:a16="http://schemas.microsoft.com/office/drawing/2014/main" id="{0015522D-A25F-AAB6-E16E-1B8DAC4E980D}"/>
              </a:ext>
            </a:extLst>
          </p:cNvPr>
          <p:cNvSpPr txBox="1"/>
          <p:nvPr/>
        </p:nvSpPr>
        <p:spPr>
          <a:xfrm>
            <a:off x="571500" y="600165"/>
            <a:ext cx="116016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		Key Findings &amp; Lessons Learned</a:t>
            </a:r>
          </a:p>
        </p:txBody>
      </p:sp>
      <p:sp>
        <p:nvSpPr>
          <p:cNvPr id="250" name="Google Shape;250;p24">
            <a:extLst>
              <a:ext uri="{FF2B5EF4-FFF2-40B4-BE49-F238E27FC236}">
                <a16:creationId xmlns:a16="http://schemas.microsoft.com/office/drawing/2014/main" id="{9577879F-9F19-63A2-4E25-2328D99E0B85}"/>
              </a:ext>
            </a:extLst>
          </p:cNvPr>
          <p:cNvSpPr/>
          <p:nvPr/>
        </p:nvSpPr>
        <p:spPr>
          <a:xfrm>
            <a:off x="571500" y="1295400"/>
            <a:ext cx="11049000" cy="1920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>
            <a:extLst>
              <a:ext uri="{FF2B5EF4-FFF2-40B4-BE49-F238E27FC236}">
                <a16:creationId xmlns:a16="http://schemas.microsoft.com/office/drawing/2014/main" id="{97F70B46-2085-BCBD-3202-29253271F04F}"/>
              </a:ext>
            </a:extLst>
          </p:cNvPr>
          <p:cNvSpPr txBox="1"/>
          <p:nvPr/>
        </p:nvSpPr>
        <p:spPr>
          <a:xfrm>
            <a:off x="571500" y="3709987"/>
            <a:ext cx="533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88D765-2D2D-A608-4F7D-2D8F53F84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" y="2123145"/>
            <a:ext cx="1040274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Lessons Learned: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Model choice is critical for imbalanced data.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Precision–Recall trade-off must be aligned with business goals.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Accuracy is misleading → Recall, F1, and PR-AUC matter more.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Confusion matrices reveal costly errors, especially false negatives.</a:t>
            </a:r>
          </a:p>
        </p:txBody>
      </p:sp>
    </p:spTree>
    <p:extLst>
      <p:ext uri="{BB962C8B-B14F-4D97-AF65-F5344CB8AC3E}">
        <p14:creationId xmlns:p14="http://schemas.microsoft.com/office/powerpoint/2010/main" val="19681668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47">
          <a:extLst>
            <a:ext uri="{FF2B5EF4-FFF2-40B4-BE49-F238E27FC236}">
              <a16:creationId xmlns:a16="http://schemas.microsoft.com/office/drawing/2014/main" id="{F211E9E6-D928-43A7-9922-58DC52E89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4" descr="image.png">
            <a:extLst>
              <a:ext uri="{FF2B5EF4-FFF2-40B4-BE49-F238E27FC236}">
                <a16:creationId xmlns:a16="http://schemas.microsoft.com/office/drawing/2014/main" id="{D3D9822C-C144-69D1-86E5-785530459F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>
            <a:extLst>
              <a:ext uri="{FF2B5EF4-FFF2-40B4-BE49-F238E27FC236}">
                <a16:creationId xmlns:a16="http://schemas.microsoft.com/office/drawing/2014/main" id="{C75E0E16-4CAE-2FE1-163B-ED5C312FA1D5}"/>
              </a:ext>
            </a:extLst>
          </p:cNvPr>
          <p:cNvSpPr txBox="1"/>
          <p:nvPr/>
        </p:nvSpPr>
        <p:spPr>
          <a:xfrm>
            <a:off x="-457200" y="610877"/>
            <a:ext cx="116016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		Future Enhancements &amp; Recommendations</a:t>
            </a:r>
          </a:p>
        </p:txBody>
      </p:sp>
      <p:sp>
        <p:nvSpPr>
          <p:cNvPr id="250" name="Google Shape;250;p24">
            <a:extLst>
              <a:ext uri="{FF2B5EF4-FFF2-40B4-BE49-F238E27FC236}">
                <a16:creationId xmlns:a16="http://schemas.microsoft.com/office/drawing/2014/main" id="{977F984B-22F2-026B-EEC3-F132EF0A23E3}"/>
              </a:ext>
            </a:extLst>
          </p:cNvPr>
          <p:cNvSpPr/>
          <p:nvPr/>
        </p:nvSpPr>
        <p:spPr>
          <a:xfrm>
            <a:off x="571500" y="1295400"/>
            <a:ext cx="11049000" cy="1920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>
            <a:extLst>
              <a:ext uri="{FF2B5EF4-FFF2-40B4-BE49-F238E27FC236}">
                <a16:creationId xmlns:a16="http://schemas.microsoft.com/office/drawing/2014/main" id="{57B7EBA4-A789-0C77-1B3C-DE75E2D3FBEC}"/>
              </a:ext>
            </a:extLst>
          </p:cNvPr>
          <p:cNvSpPr txBox="1"/>
          <p:nvPr/>
        </p:nvSpPr>
        <p:spPr>
          <a:xfrm>
            <a:off x="571500" y="3709987"/>
            <a:ext cx="533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6CE1C6-740A-EB5C-FA85-4281CF2E6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1440762"/>
            <a:ext cx="10788650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Discussion Points: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2000" b="1" dirty="0">
                <a:solidFill>
                  <a:schemeClr val="bg1"/>
                </a:solidFill>
                <a:latin typeface="Arial" panose="020B0604020202020204" pitchFamily="34" charset="0"/>
              </a:rPr>
              <a:t>Threshold tuning</a:t>
            </a: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 to adjust precision-recall balance.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chemeClr val="bg1"/>
                </a:solidFill>
                <a:latin typeface="Arial" panose="020B0604020202020204" pitchFamily="34" charset="0"/>
              </a:rPr>
              <a:t> SMOTE / Oversampling / </a:t>
            </a:r>
            <a:r>
              <a:rPr lang="en-US" altLang="en-US" sz="2000" b="1" dirty="0" err="1">
                <a:solidFill>
                  <a:schemeClr val="bg1"/>
                </a:solidFill>
                <a:latin typeface="Arial" panose="020B0604020202020204" pitchFamily="34" charset="0"/>
              </a:rPr>
              <a:t>Undersampling</a:t>
            </a: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 to better represent minority class.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chemeClr val="bg1"/>
                </a:solidFill>
                <a:latin typeface="Arial" panose="020B0604020202020204" pitchFamily="34" charset="0"/>
              </a:rPr>
              <a:t> Feature engineering</a:t>
            </a: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 using transaction velocity, customer profiles, and behavioral patterns.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chemeClr val="bg1"/>
                </a:solidFill>
                <a:latin typeface="Arial" panose="020B0604020202020204" pitchFamily="34" charset="0"/>
              </a:rPr>
              <a:t> Hybrid systems</a:t>
            </a: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 combining Boosting + Anomaly Detection (Autoencoders, Isolation Forest).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 Explainability (SHAP values) to identify fraud-driving features.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chemeClr val="bg1"/>
                </a:solidFill>
                <a:latin typeface="Arial" panose="020B0604020202020204" pitchFamily="34" charset="0"/>
              </a:rPr>
              <a:t> Real-time pipeline optimization</a:t>
            </a: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 for deployment at scale.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chemeClr val="bg1"/>
                </a:solidFill>
                <a:latin typeface="Arial" panose="020B0604020202020204" pitchFamily="34" charset="0"/>
              </a:rPr>
              <a:t> Active learning</a:t>
            </a: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 using investigator feedback.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6834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47">
          <a:extLst>
            <a:ext uri="{FF2B5EF4-FFF2-40B4-BE49-F238E27FC236}">
              <a16:creationId xmlns:a16="http://schemas.microsoft.com/office/drawing/2014/main" id="{82464B20-334D-9B05-E204-81A7B19F3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4" descr="image.png">
            <a:extLst>
              <a:ext uri="{FF2B5EF4-FFF2-40B4-BE49-F238E27FC236}">
                <a16:creationId xmlns:a16="http://schemas.microsoft.com/office/drawing/2014/main" id="{EDCBD0EF-EBCF-5C40-0388-9ED23BA96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>
            <a:extLst>
              <a:ext uri="{FF2B5EF4-FFF2-40B4-BE49-F238E27FC236}">
                <a16:creationId xmlns:a16="http://schemas.microsoft.com/office/drawing/2014/main" id="{5D10E2DF-86EE-1CD6-79B3-83C65D97BE65}"/>
              </a:ext>
            </a:extLst>
          </p:cNvPr>
          <p:cNvSpPr txBox="1"/>
          <p:nvPr/>
        </p:nvSpPr>
        <p:spPr>
          <a:xfrm>
            <a:off x="-457200" y="610877"/>
            <a:ext cx="116016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		Future Enhancements &amp; Recommendations</a:t>
            </a:r>
          </a:p>
        </p:txBody>
      </p:sp>
      <p:sp>
        <p:nvSpPr>
          <p:cNvPr id="250" name="Google Shape;250;p24">
            <a:extLst>
              <a:ext uri="{FF2B5EF4-FFF2-40B4-BE49-F238E27FC236}">
                <a16:creationId xmlns:a16="http://schemas.microsoft.com/office/drawing/2014/main" id="{9C60EFBB-C1D0-7885-9499-E632363E529A}"/>
              </a:ext>
            </a:extLst>
          </p:cNvPr>
          <p:cNvSpPr/>
          <p:nvPr/>
        </p:nvSpPr>
        <p:spPr>
          <a:xfrm>
            <a:off x="571500" y="1295400"/>
            <a:ext cx="11049000" cy="19200"/>
          </a:xfrm>
          <a:prstGeom prst="rect">
            <a:avLst/>
          </a:prstGeom>
          <a:solidFill>
            <a:srgbClr val="BEF2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>
            <a:extLst>
              <a:ext uri="{FF2B5EF4-FFF2-40B4-BE49-F238E27FC236}">
                <a16:creationId xmlns:a16="http://schemas.microsoft.com/office/drawing/2014/main" id="{74A8F384-1D3E-AA33-A540-AF574509C211}"/>
              </a:ext>
            </a:extLst>
          </p:cNvPr>
          <p:cNvSpPr txBox="1"/>
          <p:nvPr/>
        </p:nvSpPr>
        <p:spPr>
          <a:xfrm>
            <a:off x="571500" y="3709987"/>
            <a:ext cx="533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AC0569-8FB9-F5B8-C35C-1348F6177F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1933205"/>
            <a:ext cx="1078865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Discussion Points:</a:t>
            </a: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b="1" dirty="0">
                <a:solidFill>
                  <a:schemeClr val="bg1"/>
                </a:solidFill>
                <a:latin typeface="Arial" panose="020B0604020202020204" pitchFamily="34" charset="0"/>
              </a:rPr>
              <a:t>Deep temporal Features</a:t>
            </a: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: Use time-series techniques like RNN or LSTM networks to model sequential order of transactions. This would allow model to learn complex fraud sequences.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chemeClr val="bg1"/>
                </a:solidFill>
                <a:latin typeface="Arial" panose="020B0604020202020204" pitchFamily="34" charset="0"/>
              </a:rPr>
              <a:t> Customer behavioral profiles: </a:t>
            </a: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User’s statistics over past 30 days and then note any sudden changes in patterns.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chemeClr val="bg1"/>
                </a:solidFill>
                <a:latin typeface="Arial" panose="020B0604020202020204" pitchFamily="34" charset="0"/>
              </a:rPr>
              <a:t> Real-time API integration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000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chemeClr val="bg1"/>
                </a:solidFill>
                <a:latin typeface="Arial" panose="020B0604020202020204" pitchFamily="34" charset="0"/>
              </a:rPr>
              <a:t> Concept Drift Detection: </a:t>
            </a:r>
            <a:r>
              <a:rPr lang="en-US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Fraudsters constantly change their tactics, causing changes in patterns. Implement continuous monitoring that tracks model’s performance on new, unseen data. This would allow model to be more adaptive.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en-US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55215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295275" y="571500"/>
            <a:ext cx="11601600" cy="11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BEF264"/>
                </a:solidFill>
                <a:latin typeface="Space Grotesk"/>
                <a:ea typeface="Space Grotesk"/>
                <a:cs typeface="Space Grotesk"/>
                <a:sym typeface="Space Grotesk"/>
              </a:rPr>
              <a:t>Questions?</a:t>
            </a:r>
            <a:endParaRPr/>
          </a:p>
        </p:txBody>
      </p:sp>
      <p:sp>
        <p:nvSpPr>
          <p:cNvPr id="317" name="Google Shape;317;p29"/>
          <p:cNvSpPr txBox="1"/>
          <p:nvPr/>
        </p:nvSpPr>
        <p:spPr>
          <a:xfrm>
            <a:off x="571500" y="1971675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Thank you.</a:t>
            </a:r>
            <a:endParaRPr/>
          </a:p>
        </p:txBody>
      </p:sp>
      <p:sp>
        <p:nvSpPr>
          <p:cNvPr id="318" name="Google Shape;318;p29"/>
          <p:cNvSpPr txBox="1"/>
          <p:nvPr/>
        </p:nvSpPr>
        <p:spPr>
          <a:xfrm>
            <a:off x="571500" y="2466975"/>
            <a:ext cx="11049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8FAFC"/>
                </a:solidFill>
                <a:latin typeface="Outfit"/>
                <a:ea typeface="Outfit"/>
                <a:cs typeface="Outfit"/>
                <a:sym typeface="Outfit"/>
              </a:rPr>
              <a:t>Group 12 | ICS 502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1340</Words>
  <Application>Microsoft Office PowerPoint</Application>
  <PresentationFormat>Widescreen</PresentationFormat>
  <Paragraphs>165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Space Grotesk</vt:lpstr>
      <vt:lpstr>Calibri</vt:lpstr>
      <vt:lpstr>Arial</vt:lpstr>
      <vt:lpstr>Outfit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Asad Ejaz</dc:creator>
  <cp:lastModifiedBy>MUHAMMAD ASAD EJAZ</cp:lastModifiedBy>
  <cp:revision>5</cp:revision>
  <dcterms:modified xsi:type="dcterms:W3CDTF">2025-12-06T12:58:02Z</dcterms:modified>
</cp:coreProperties>
</file>